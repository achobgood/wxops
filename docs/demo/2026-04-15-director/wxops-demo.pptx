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198" d="100"/>
          <a:sy n="198" d="100"/>
        </p:scale>
        <p:origin x="184" y="1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2880360" cy="3406462"/>
          </a:xfrm>
          <a:prstGeom prst="rect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1371600"/>
            <a:ext cx="2286000" cy="3771900"/>
          </a:xfrm>
          <a:prstGeom prst="rect">
            <a:avLst/>
          </a:prstGeom>
          <a:solidFill>
            <a:srgbClr val="4A5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73152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7498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Calibri"/>
              </a:rPr>
              <a:t>WEBEX CALLING  ·  DIRECTOR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51560"/>
            <a:ext cx="68580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Georgia"/>
              </a:rPr>
              <a:t>CUCM to Webex,</a:t>
            </a:r>
          </a:p>
          <a:p>
            <a:pPr algn="l"/>
            <a:r>
              <a:rPr sz="4000" b="1" dirty="0">
                <a:solidFill>
                  <a:srgbClr val="FFFFFF"/>
                </a:solidFill>
                <a:latin typeface="Georgia"/>
              </a:rPr>
              <a:t>without the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CC3CD"/>
                </a:solidFill>
                <a:latin typeface="Calibri"/>
              </a:rPr>
              <a:t>A codified migration platform that turns discovery, decisions,</a:t>
            </a:r>
          </a:p>
          <a:p>
            <a:pPr algn="l"/>
            <a:r>
              <a:rPr sz="1400" b="0">
                <a:solidFill>
                  <a:srgbClr val="BCC3CD"/>
                </a:solidFill>
                <a:latin typeface="Calibri"/>
              </a:rPr>
              <a:t>and execution into a single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Adam Hobgood  |  Collaboration Sales Engineer  |  Cisco Webex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The migration graveyard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SE bandwidth is the bottleneck, not the technology.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79476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1261872"/>
          </a:xfrm>
          <a:prstGeom prst="rect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Escalation tax on every hard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339242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CSS ordering, shared-line semantics, analog gateways — each gets routed to a specialist. Weeks lost per engagement.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00200"/>
            <a:ext cx="379476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54864" cy="1261872"/>
          </a:xfrm>
          <a:prstGeom prst="rect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801368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Spreadsheets, not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130552"/>
            <a:ext cx="339242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Competitor tools hand customers a discovery dump. Someone still has to interpret it. That someone is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26664"/>
            <a:ext cx="379476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26664"/>
            <a:ext cx="54864" cy="1261872"/>
          </a:xfrm>
          <a:prstGeom prst="rect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227832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No state, no resume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57016"/>
            <a:ext cx="339242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Hand-cranked scripts leave a half-migrated org with no safe recovery path. Failures compound.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026664"/>
            <a:ext cx="379476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26664"/>
            <a:ext cx="54864" cy="1261872"/>
          </a:xfrm>
          <a:prstGeom prst="rect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2" y="3227832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Tribal knowledge, not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3557016"/>
            <a:ext cx="339242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Every migration is a re-learning exercise. New SEs can't ramp because nothing is codified.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What's in the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One CLI. One pipeline. One session from CUCM to populated Control Hub.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1508760"/>
            <a:ext cx="1554480" cy="256032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4632" y="1508760"/>
            <a:ext cx="1554480" cy="54864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0412" y="1764792"/>
            <a:ext cx="502920" cy="502920"/>
          </a:xfrm>
          <a:prstGeom prst="ellipse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0412" y="17647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2316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F28"/>
                </a:solidFill>
                <a:latin typeface="Georgia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743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A525E"/>
                </a:solidFill>
                <a:latin typeface="Calibri"/>
              </a:rPr>
              <a:t>AXL pull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1335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Users, lines, devices,</a:t>
            </a:r>
          </a:p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CSS, trunks,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9696" y="1508760"/>
            <a:ext cx="1554480" cy="256032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39696" y="1508760"/>
            <a:ext cx="1554480" cy="54864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65476" y="1764792"/>
            <a:ext cx="502920" cy="502920"/>
          </a:xfrm>
          <a:prstGeom prst="ellipse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65476" y="17647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" y="242316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F28"/>
                </a:solidFill>
                <a:latin typeface="Georgia"/>
              </a:rP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6" y="2743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A525E"/>
                </a:solidFill>
                <a:latin typeface="Calibri"/>
              </a:rPr>
              <a:t>Canonicalize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9424" y="3017520"/>
            <a:ext cx="1335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Cross-refs, partitions,</a:t>
            </a:r>
          </a:p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device pools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508760"/>
            <a:ext cx="1554480" cy="256032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94760" y="1508760"/>
            <a:ext cx="1554480" cy="54864"/>
          </a:xfrm>
          <a:prstGeom prst="rect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20540" y="1764792"/>
            <a:ext cx="502920" cy="502920"/>
          </a:xfrm>
          <a:prstGeom prst="ellipse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20540" y="17647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42316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F28"/>
                </a:solidFill>
                <a:latin typeface="Georgia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743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A525E"/>
                </a:solidFill>
                <a:latin typeface="Calibri"/>
              </a:rPr>
              <a:t>27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8" y="3017520"/>
            <a:ext cx="1335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Auto-rules, advisories,</a:t>
            </a:r>
          </a:p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dissent flags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9824" y="1508760"/>
            <a:ext cx="1554480" cy="256032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49824" y="1508760"/>
            <a:ext cx="1554480" cy="54864"/>
          </a:xfrm>
          <a:prstGeom prst="rect">
            <a:avLst/>
          </a:prstGeom>
          <a:solidFill>
            <a:srgbClr val="5A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75604" y="1764792"/>
            <a:ext cx="502920" cy="502920"/>
          </a:xfrm>
          <a:prstGeom prst="ellipse">
            <a:avLst/>
          </a:prstGeom>
          <a:solidFill>
            <a:srgbClr val="5A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75604" y="17647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9824" y="242316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F28"/>
                </a:solidFill>
                <a:latin typeface="Georgia"/>
              </a:rPr>
              <a:t>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9824" y="2743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A525E"/>
                </a:solidFill>
                <a:latin typeface="Calibri"/>
              </a:rPr>
              <a:t>Dependency DAG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2" y="3017520"/>
            <a:ext cx="1335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Ops graph, preflight,</a:t>
            </a:r>
          </a:p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resume on failure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88" y="1508760"/>
            <a:ext cx="1554480" cy="256032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104888" y="1508760"/>
            <a:ext cx="1554480" cy="54864"/>
          </a:xfrm>
          <a:prstGeom prst="rect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630668" y="1764792"/>
            <a:ext cx="502920" cy="502920"/>
          </a:xfrm>
          <a:prstGeom prst="ellipse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30668" y="17647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4888" y="242316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F28"/>
                </a:solidFill>
                <a:latin typeface="Georgia"/>
              </a:rPr>
              <a:t>Execute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2743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A525E"/>
                </a:solidFill>
                <a:latin typeface="Calibri"/>
              </a:rPr>
              <a:t>Concurrent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3017520"/>
            <a:ext cx="13350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Control Hub populated</a:t>
            </a:r>
          </a:p>
          <a:p>
            <a:pPr algn="ctr"/>
            <a:r>
              <a:rPr sz="950" b="0">
                <a:solidFill>
                  <a:srgbClr val="4A525E"/>
                </a:solidFill>
                <a:latin typeface="Calibri"/>
              </a:rPr>
              <a:t>end-to-end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2519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166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6360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CLI command groups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42519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2,541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46360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Ops / migration run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2519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6360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Decision types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2519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6360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Scripts to write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PHASE 1  · 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Five minutes to a complexity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AXL pull to customer-ready HTML before the next internal meeting.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874519" cy="86868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15453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1545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Users discovered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508760"/>
            <a:ext cx="1874519" cy="86868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581912"/>
            <a:ext cx="15453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772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984248"/>
            <a:ext cx="1545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Devices catalogued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08760"/>
            <a:ext cx="1874519" cy="86868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1581912"/>
            <a:ext cx="15453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984248"/>
            <a:ext cx="1545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Complexity  ·  MODERATE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508760"/>
            <a:ext cx="1874519" cy="86868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1581912"/>
            <a:ext cx="15453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1984248"/>
            <a:ext cx="1545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From AXL to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1874519" cy="192024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560320"/>
            <a:ext cx="1874519" cy="45720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743200"/>
            <a:ext cx="15087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Six-axis radar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63240"/>
            <a:ext cx="150875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Routing, devices, features, PSTN, identity, media — scored independently and printed to the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560320"/>
            <a:ext cx="1874519" cy="192024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97480" y="2560320"/>
            <a:ext cx="1874519" cy="45720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80360" y="2743200"/>
            <a:ext cx="15087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Environment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063240"/>
            <a:ext cx="150875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17 trunks  ·  17 hunt groups  ·  8 auto attendants  ·  26 EM profiles  ·  25 remote destinations.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560320"/>
            <a:ext cx="1874519" cy="192024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2560320"/>
            <a:ext cx="1874519" cy="45720"/>
          </a:xfrm>
          <a:prstGeom prst="rect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2743200"/>
            <a:ext cx="15087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Data-quality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063240"/>
            <a:ext cx="150875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290 soft-client / mac-less devices surfaced as MISSING_DATA. No silent assumptions.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560320"/>
            <a:ext cx="1874519" cy="192024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29400" y="2560320"/>
            <a:ext cx="1874519" cy="45720"/>
          </a:xfrm>
          <a:prstGeom prst="rect">
            <a:avLst/>
          </a:prstGeom>
          <a:solidFill>
            <a:srgbClr val="5A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2743200"/>
            <a:ext cx="15087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Customer-ready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063240"/>
            <a:ext cx="150875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Branded HTML, printable appendices, effort bands. Shareable before the call ends.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PHASE 2  ·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The report walks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What the customer sees — and what it means for their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1325880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Routing mismatch surfaced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339242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Webex MORE restrictive than CUCM in specific CSS orderings — flagged explicitly, not buried in an appendix.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0020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54864" cy="1325880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801368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Analog, named and mapped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130552"/>
            <a:ext cx="339242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2 gateways, 16 ports → ATA workspaces. Fax, paging, and legacy endpoints accounted for (Appendix J).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90672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90672"/>
            <a:ext cx="54864" cy="1325880"/>
          </a:xfrm>
          <a:prstGeom prst="rect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291840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Architecture advisories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21024"/>
            <a:ext cx="339242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PSTN topology, E911 workstream, Extension Mobility → hot desking. Real decisions, not recommendations to research.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090672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90672"/>
            <a:ext cx="54864" cy="1325880"/>
          </a:xfrm>
          <a:prstGeom prst="rect">
            <a:avLst/>
          </a:prstGeom>
          <a:solidFill>
            <a:srgbClr val="5A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2" y="3291840"/>
            <a:ext cx="3392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Effort in bands, not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3621024"/>
            <a:ext cx="339242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A525E"/>
                </a:solidFill>
                <a:latin typeface="Calibri"/>
              </a:rPr>
              <a:t>Each workstream sized — customer sees scope the way they'll staff it, not a feature checklist.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PHASE 3  · 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87 decisions. Zero escalations.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Auto-rules resolve the routine. Advisories flag the hard calls.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291840" cy="246888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3291840" cy="54864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Georgia"/>
              </a:rPr>
              <a:t>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eorgia"/>
              </a:rPr>
              <a:t>Decisions, auto-resolved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The SE walks into customer review</a:t>
            </a:r>
          </a:p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already holding the answer — and the</a:t>
            </a:r>
          </a:p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tool can defend it when challenged.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4206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600200"/>
            <a:ext cx="54864" cy="777240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7099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27 DecisionTypes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9842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CSS, device, feature, routing, identity — each with named auto-rules and override paths.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450592"/>
            <a:ext cx="4206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2450592"/>
            <a:ext cx="54864" cy="777240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25603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20 advisory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8346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Dissent flags surface heuristic weak spots before the SE has to defend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300984"/>
            <a:ext cx="4206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3300984"/>
            <a:ext cx="54864" cy="777240"/>
          </a:xfrm>
          <a:prstGeom prst="rect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341071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5 tuning recipes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68503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Adjust thresholds per customer shape — brownfield vs greenfield, E911 posture, PSTN topology.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05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5445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MEDIUM advisories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1605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5445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Heuristic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605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5445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Silent miswires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PHASE 4  · 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One prompt. One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The SE types a sentence. The platform does the 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680960" cy="105156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105156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Calibri"/>
              </a:rPr>
              <a:t>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Georgia"/>
              </a:rPr>
              <a:t>“Run my CUCM-to-Webex migration. The project is dcloud-fresh — already discovered, mapped, and planned. Target org a9527d60… Generate the report, user-diff, and user-notice. Show me what landed in Control Hub.”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2496312" cy="141732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2496312" cy="45720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130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Pipeline resumes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21305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State in SQLite. Kill the session mid-run, restart — it picks up where it left off.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88920"/>
            <a:ext cx="2496312" cy="141732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2788920"/>
            <a:ext cx="2496312" cy="45720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971800"/>
            <a:ext cx="2130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Decisions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1305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Every call surfaces its rule, its outcome, and the reasoning. No silent choices.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788920"/>
            <a:ext cx="2496312" cy="141732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0" y="2788920"/>
            <a:ext cx="2496312" cy="45720"/>
          </a:xfrm>
          <a:prstGeom prst="rect">
            <a:avLst/>
          </a:prstGeom>
          <a:solidFill>
            <a:srgbClr val="5A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2971800"/>
            <a:ext cx="2130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Control Hub populates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91840"/>
            <a:ext cx="21305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BCC3CD"/>
                </a:solidFill>
                <a:latin typeface="Calibri"/>
              </a:rPr>
              <a:t>Locations, users, devices, hunt groups, trunks, routing — end-to-end in one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2,417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7316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38912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~7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77316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Wall clock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77316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SE, 1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38912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28"/>
                </a:solidFill>
                <a:latin typeface="Georgia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77316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Scripts authored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2560320" cy="3200400"/>
          </a:xfrm>
          <a:prstGeom prst="rect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54864" cy="11887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Calibri"/>
              </a:rPr>
              <a:t>THE DIFFERENTIATOR  ·  ADVISORY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685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Georgia"/>
              </a:rPr>
              <a:t>D1532 — the Opus moment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680960" cy="1417320"/>
          </a:xfrm>
          <a:prstGeom prst="rect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4864" cy="14173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4A574"/>
                </a:solidFill>
                <a:latin typeface="Georgia"/>
              </a:rPr>
              <a:t>“</a:t>
            </a:r>
            <a:r>
              <a:rPr sz="2200" b="0" i="1">
                <a:solidFill>
                  <a:srgbClr val="FFFFFF"/>
                </a:solidFill>
                <a:latin typeface="Georgia"/>
              </a:rPr>
              <a:t>55 remote destinations for 0 users — Webex SNR is simpler, manual setup required.”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BCC3CD"/>
                </a:solidFill>
                <a:latin typeface="Calibri"/>
              </a:rPr>
              <a:t>Advisor decision D1532  ·  auto-resolved  ·  MEDIUM severity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Georgia"/>
              </a:rPr>
              <a:t>Not extraction —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Caught orphaned dial-plan cruft</a:t>
            </a:r>
          </a:p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the customer forgot they had.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20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Georgia"/>
              </a:rPr>
              <a:t>CCIE-level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1304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Opus-powered advisor layered over</a:t>
            </a:r>
          </a:p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heuristic output; dissent when rules fail.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20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Georgia"/>
              </a:rPr>
              <a:t>Customer defense built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1304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Every advisory carries its reasoning —</a:t>
            </a:r>
          </a:p>
          <a:p>
            <a:pPr algn="l"/>
            <a:r>
              <a:rPr sz="1000" b="0">
                <a:solidFill>
                  <a:srgbClr val="BCC3CD"/>
                </a:solidFill>
                <a:latin typeface="Calibri"/>
              </a:rPr>
              <a:t>the SE can answer the follow-up.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BEYOND MIGRATION  ·  DAY-N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28"/>
                </a:solidFill>
                <a:latin typeface="Georgia"/>
              </a:rPr>
              <a:t>The same platform. Every week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Same CLI, same agent, same SE — now running the customer's business.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5029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Georgia"/>
              </a:rPr>
              <a:t>“Change every greeting in every location to the new hold music — by Friday.”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4963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2496312" cy="45720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Bulk TTS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07208"/>
            <a:ext cx="2093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Replace the hold prompt across 42 locations</a:t>
            </a:r>
          </a:p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in a single prompt.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331720"/>
            <a:ext cx="24963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2331720"/>
            <a:ext cx="2496312" cy="45720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2496312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Schedule swap — holiday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807208"/>
            <a:ext cx="2093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Push every business-hours schedule</a:t>
            </a:r>
          </a:p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to holiday mode — org-wide, idempotent.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331720"/>
            <a:ext cx="24963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52160" y="2331720"/>
            <a:ext cx="2496312" cy="45720"/>
          </a:xfrm>
          <a:prstGeom prst="rect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53328" y="2496312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Spin up a queue,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807208"/>
            <a:ext cx="2093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“Build me a 24-agent overflow queue for</a:t>
            </a:r>
          </a:p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the product launch” — done in one session.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84448"/>
            <a:ext cx="24963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584448"/>
            <a:ext cx="2496312" cy="45720"/>
          </a:xfrm>
          <a:prstGeom prst="rect">
            <a:avLst/>
          </a:prstGeom>
          <a:solidFill>
            <a:srgbClr val="5A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749040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License right-sizing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59936"/>
            <a:ext cx="2093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Audit inactive users, reclaim seats, flag</a:t>
            </a:r>
          </a:p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execs over-licensed, in minutes.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584448"/>
            <a:ext cx="24963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91840" y="3584448"/>
            <a:ext cx="2496312" cy="45720"/>
          </a:xfrm>
          <a:prstGeom prst="rect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3749040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Mass CFWD reroute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059936"/>
            <a:ext cx="2093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Snow day — forward 3,000 users to the</a:t>
            </a:r>
          </a:p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after-hours message, and reverse it tomorrow.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584448"/>
            <a:ext cx="2496312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3584448"/>
            <a:ext cx="2496312" cy="45720"/>
          </a:xfrm>
          <a:prstGeom prst="rect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53328" y="3749040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28"/>
                </a:solidFill>
                <a:latin typeface="Georgia"/>
              </a:rPr>
              <a:t>Pattern-based provisioning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4059936"/>
            <a:ext cx="2093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Onboard a new site by describing it. 120 users,</a:t>
            </a:r>
          </a:p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3 AAs, 2 queues, a trunk — 1 session.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91947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25E"/>
                </a:solidFill>
                <a:latin typeface="Calibri"/>
              </a:rPr>
              <a:t>Art of the possible  ·  no custom scripting  ·  no professional services engagement  ·  just language.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8864E"/>
                </a:solidFill>
                <a:latin typeface="Calibri"/>
              </a:rPr>
              <a:t>PHASE 5  ·  DAY-2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6809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A1F28"/>
                </a:solidFill>
                <a:latin typeface="Georgia"/>
              </a:rPr>
              <a:t>CDR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525E"/>
                </a:solidFill>
                <a:latin typeface="Calibri"/>
              </a:rPr>
              <a:t>The same platform that ran the migration runs the renewals.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4A7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Calls by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B8864E"/>
                </a:solidFill>
                <a:latin typeface="Georgia"/>
              </a:rPr>
              <a:t>Which office has the worst</a:t>
            </a:r>
          </a:p>
          <a:p>
            <a:pPr algn="l"/>
            <a:r>
              <a:rPr sz="1200" b="0">
                <a:solidFill>
                  <a:srgbClr val="B8864E"/>
                </a:solidFill>
                <a:latin typeface="Georgia"/>
              </a:rPr>
              <a:t>answer rate?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The first question a customer asks when rolling out Webex across multiple sites.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560320" cy="54864"/>
          </a:xfrm>
          <a:prstGeom prst="rect">
            <a:avLst/>
          </a:prstGeom>
          <a:solidFill>
            <a:srgbClr val="B88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Top talkers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402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B8864E"/>
                </a:solidFill>
                <a:latin typeface="Georgia"/>
              </a:rPr>
              <a:t>Who are our heaviest</a:t>
            </a:r>
          </a:p>
          <a:p>
            <a:pPr algn="l"/>
            <a:r>
              <a:rPr sz="1200" b="0">
                <a:solidFill>
                  <a:srgbClr val="B8864E"/>
                </a:solidFill>
                <a:latin typeface="Georgia"/>
              </a:rPr>
              <a:t>phone users?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260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Capacity planning and license right-sizing — standard renewal fodder, answered in a minute.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645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1645920"/>
            <a:ext cx="2560320" cy="54864"/>
          </a:xfrm>
          <a:prstGeom prst="rect">
            <a:avLst/>
          </a:prstGeom>
          <a:solidFill>
            <a:srgbClr val="7A6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874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F28"/>
                </a:solidFill>
                <a:latin typeface="Georgia"/>
              </a:rPr>
              <a:t>Missed calls, repeat callers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02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B8864E"/>
                </a:solidFill>
                <a:latin typeface="Georgia"/>
              </a:rPr>
              <a:t>Are we losing the same</a:t>
            </a:r>
          </a:p>
          <a:p>
            <a:pPr algn="l"/>
            <a:r>
              <a:rPr sz="1200" b="0">
                <a:solidFill>
                  <a:srgbClr val="B8864E"/>
                </a:solidFill>
                <a:latin typeface="Georgia"/>
              </a:rPr>
              <a:t>customers, repeatedly?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260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525E"/>
                </a:solidFill>
                <a:latin typeface="Calibri"/>
              </a:rPr>
              <a:t>CX risk surfaced as a ranked list of numbers — concrete, alarming, zero-ambiguity.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Georgia"/>
              </a:rPr>
              <a:t>Three recipes.  One platform.  Same session.  Seventy-five more in the catalog.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28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E97A5"/>
                </a:solidFill>
                <a:latin typeface="Calibri"/>
              </a:rPr>
              <a:t>Webex Calling Platform  ·  Director Briefing  ·  2026-04-15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3429000" cy="4469613"/>
          </a:xfrm>
          <a:prstGeom prst="rect">
            <a:avLst/>
          </a:prstGeom>
          <a:solidFill>
            <a:srgbClr val="3D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54864" cy="128016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D4A574"/>
                </a:solidFill>
                <a:latin typeface="Calibri"/>
              </a:rPr>
              <a:t>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Georgia"/>
              </a:rPr>
              <a:t>What's next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084832"/>
            <a:ext cx="109728" cy="109728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cucm-collect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Standalone AXL collection — customer runs it without SE on-site. Changes the pre-sales motion.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642616"/>
            <a:ext cx="109728" cy="109728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478024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Score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7802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Validate complexity scoring against real production environments across partner engagements.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00400"/>
            <a:ext cx="109728" cy="109728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303580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PyPI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3580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pip install wxcli — removes the GitHub dependency, opens adoption to any SE or partner.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758184"/>
            <a:ext cx="109728" cy="109728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359359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Partner branding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9359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--logo flag  ·  branded reports out of the box  ·  customer-ready without post-processing.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315968"/>
            <a:ext cx="109728" cy="109728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eorgia"/>
              </a:rPr>
              <a:t>WebexOne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151376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CC3CD"/>
                </a:solidFill>
                <a:latin typeface="Calibri"/>
              </a:rPr>
              <a:t>Proposal submitted  ·  platform as the centerpiece session  ·  field-ready demo in hand.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BCC3CD"/>
                </a:solidFill>
                <a:latin typeface="Calibri"/>
              </a:rPr>
              <a:t>Adam Hobgood  ·  achobgood@cisco.com  ·  Cisco Collaboration Sales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280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E97A5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1272</Words>
  <Application>Microsoft Macintosh PowerPoint</Application>
  <PresentationFormat>On-screen Show (16:9)</PresentationFormat>
  <Paragraphs>205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Hobgood</cp:lastModifiedBy>
  <cp:revision>2</cp:revision>
  <dcterms:created xsi:type="dcterms:W3CDTF">2013-01-27T09:14:16Z</dcterms:created>
  <dcterms:modified xsi:type="dcterms:W3CDTF">2026-04-15T19:03:09Z</dcterms:modified>
  <cp:category/>
</cp:coreProperties>
</file>